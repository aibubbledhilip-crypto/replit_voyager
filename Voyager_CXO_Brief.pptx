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12115800" cy="1234440"/>
          </a:xfrm>
          <a:prstGeom prst="rect">
            <a:avLst/>
          </a:prstGeom>
          <a:solidFill>
            <a:srgbClr val="0D1E3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82880"/>
            <a:ext cx="822960" cy="82296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82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V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234440" y="62179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AWS Athena Query Platform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875520" y="347472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1E88E5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0" y="3474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CONFIDENTIAL — CXO BRIEF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28600" y="141732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0F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" y="1417320"/>
            <a:ext cx="3657600" cy="347472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4173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IS IT?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1810512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multi-tenant SaaS platform that gives enterprise teams governed, browser-based access to AWS Athena — with zero infrastructure management.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organisations that need self-service SQL analytics with enterprise-grade controls.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60520" y="1417320"/>
            <a:ext cx="3977640" cy="2286000"/>
          </a:xfrm>
          <a:prstGeom prst="roundRect">
            <a:avLst>
              <a:gd name="adj" fmla="val 3200"/>
            </a:avLst>
          </a:prstGeom>
          <a:solidFill>
            <a:srgbClr val="0F2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4160520" y="1417320"/>
            <a:ext cx="397764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141732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CAPABILITIES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51960" y="184708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B5F6"/>
                </a:solidFill>
              </a:rPr>
              <a:t>• SQL Executor: 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21808" y="1847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Ad-hoc Athena queries with live results &amp; CSV export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51960" y="214884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B5F6"/>
                </a:solidFill>
              </a:rPr>
              <a:t>• Data Explorer: 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21808" y="21488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Configurable lookup across enterprise data sources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51960" y="245059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B5F6"/>
                </a:solidFill>
              </a:rPr>
              <a:t>• Depiction: 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21808" y="24505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No-code chart builder with shareable dashboards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51960" y="2752344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B5F6"/>
                </a:solidFill>
              </a:rPr>
              <a:t>• File Tools: 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21808" y="27523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CSV/XLSX comparison &amp; aggregation utilities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251960" y="3054096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B5F6"/>
                </a:solidFill>
              </a:rPr>
              <a:t>• SFTP Monitor: 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21808" y="305409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Real-time file-freshness monitoring across servers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251960" y="335584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B5F6"/>
                </a:solidFill>
              </a:rPr>
              <a:t>• API Access: 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21808" y="335584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Personal API keys for programmatic query execution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321040" y="141732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0F2A4A"/>
          </a:solidFill>
          <a:ln/>
        </p:spPr>
      </p:sp>
      <p:sp>
        <p:nvSpPr>
          <p:cNvPr id="30" name="Shape 28"/>
          <p:cNvSpPr/>
          <p:nvPr/>
        </p:nvSpPr>
        <p:spPr>
          <a:xfrm>
            <a:off x="8321040" y="1417320"/>
            <a:ext cx="3657600" cy="34747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14173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SECURITY &amp; GOVERNANCE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394192" y="1892808"/>
            <a:ext cx="91440" cy="9144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33" name="Text 31"/>
          <p:cNvSpPr/>
          <p:nvPr/>
        </p:nvSpPr>
        <p:spPr>
          <a:xfrm>
            <a:off x="8549640" y="184708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4-tier RBAC  (Owner › Admin › Member › Viewer)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394192" y="2194560"/>
            <a:ext cx="91440" cy="9144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35" name="Text 33"/>
          <p:cNvSpPr/>
          <p:nvPr/>
        </p:nvSpPr>
        <p:spPr>
          <a:xfrm>
            <a:off x="8549640" y="214884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Feature-level permission matrix per organisation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394192" y="2496312"/>
            <a:ext cx="91440" cy="9144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37" name="Text 35"/>
          <p:cNvSpPr/>
          <p:nvPr/>
        </p:nvSpPr>
        <p:spPr>
          <a:xfrm>
            <a:off x="8549640" y="245059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AES-256-GCM encryption for all credentials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394192" y="2798064"/>
            <a:ext cx="91440" cy="9144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39" name="Text 37"/>
          <p:cNvSpPr/>
          <p:nvPr/>
        </p:nvSpPr>
        <p:spPr>
          <a:xfrm>
            <a:off x="8549640" y="275234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Full audit trail — every action logged with IP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394192" y="3099816"/>
            <a:ext cx="91440" cy="9144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41" name="Text 39"/>
          <p:cNvSpPr/>
          <p:nvPr/>
        </p:nvSpPr>
        <p:spPr>
          <a:xfrm>
            <a:off x="8549640" y="3054096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Multi-tenant isolation — zero data cross-leakage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394192" y="3401568"/>
            <a:ext cx="91440" cy="9144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43" name="Text 41"/>
          <p:cNvSpPr/>
          <p:nvPr/>
        </p:nvSpPr>
        <p:spPr>
          <a:xfrm>
            <a:off x="8549640" y="335584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</a:rPr>
              <a:t>Stripe subscription billing with usage limits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28600" y="3913632"/>
            <a:ext cx="2788920" cy="822960"/>
          </a:xfrm>
          <a:prstGeom prst="roundRect">
            <a:avLst>
              <a:gd name="adj" fmla="val 7778"/>
            </a:avLst>
          </a:prstGeom>
          <a:solidFill>
            <a:srgbClr val="0D2137"/>
          </a:solidFill>
          <a:ln w="9525">
            <a:solidFill>
              <a:srgbClr val="1E88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39319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88E5"/>
                </a:solidFill>
              </a:rPr>
              <a:t>4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228600" y="432511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</a:rPr>
              <a:t>Subscription Tiers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46120" y="3913632"/>
            <a:ext cx="2788920" cy="822960"/>
          </a:xfrm>
          <a:prstGeom prst="roundRect">
            <a:avLst>
              <a:gd name="adj" fmla="val 7778"/>
            </a:avLst>
          </a:prstGeom>
          <a:solidFill>
            <a:srgbClr val="0D2137"/>
          </a:solidFill>
          <a:ln w="9525">
            <a:solidFill>
              <a:srgbClr val="1E88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46120" y="39319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88E5"/>
                </a:solidFill>
              </a:rPr>
              <a:t>8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3246120" y="432511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</a:rPr>
              <a:t>Feature Permission Gates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63640" y="3913632"/>
            <a:ext cx="2788920" cy="822960"/>
          </a:xfrm>
          <a:prstGeom prst="roundRect">
            <a:avLst>
              <a:gd name="adj" fmla="val 7778"/>
            </a:avLst>
          </a:prstGeom>
          <a:solidFill>
            <a:srgbClr val="0D2137"/>
          </a:solidFill>
          <a:ln w="9525">
            <a:solidFill>
              <a:srgbClr val="1E88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63640" y="39319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88E5"/>
                </a:solidFill>
              </a:rPr>
              <a:t>16+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6263640" y="432511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</a:rPr>
              <a:t>Audit Event Types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281160" y="3913632"/>
            <a:ext cx="2788920" cy="822960"/>
          </a:xfrm>
          <a:prstGeom prst="roundRect">
            <a:avLst>
              <a:gd name="adj" fmla="val 7778"/>
            </a:avLst>
          </a:prstGeom>
          <a:solidFill>
            <a:srgbClr val="0D2137"/>
          </a:solidFill>
          <a:ln w="9525">
            <a:solidFill>
              <a:srgbClr val="1E88E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81160" y="39319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88E5"/>
                </a:solidFill>
              </a:rPr>
              <a:t>100%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9281160" y="432511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</a:rPr>
              <a:t>Browser-Based — No Install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3152" y="4919472"/>
            <a:ext cx="12115800" cy="256032"/>
          </a:xfrm>
          <a:prstGeom prst="rect">
            <a:avLst/>
          </a:prstGeom>
          <a:solidFill>
            <a:srgbClr val="0D1E36"/>
          </a:solidFill>
          <a:ln/>
        </p:spPr>
      </p:sp>
      <p:sp>
        <p:nvSpPr>
          <p:cNvPr id="57" name="Text 55"/>
          <p:cNvSpPr/>
          <p:nvPr/>
        </p:nvSpPr>
        <p:spPr>
          <a:xfrm>
            <a:off x="182880" y="49194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B5F6"/>
                </a:solidFill>
              </a:rPr>
              <a:t>TECH STACK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463040" y="4919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</a:rPr>
              <a:t>◆  React + TypeScript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246120" y="4919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</a:rPr>
              <a:t>◆  Express.js + Node.js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29200" y="4919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</a:rPr>
              <a:t>◆  PostgreSQL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812280" y="4919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</a:rPr>
              <a:t>◆  AWS Athena SDK v3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8595360" y="4919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</a:rPr>
              <a:t>◆  Stripe Billing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0378440" y="4919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</a:rPr>
              <a:t>◆  Bcrypt + AES-256-GCM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3152" y="5230368"/>
            <a:ext cx="12115800" cy="13716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65" name="Text 63"/>
          <p:cNvSpPr/>
          <p:nvPr/>
        </p:nvSpPr>
        <p:spPr>
          <a:xfrm>
            <a:off x="228600" y="53218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B5F6"/>
                </a:solidFill>
              </a:rPr>
              <a:t>DEPLOYMENT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28600" y="56235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0CAF9"/>
                </a:solidFill>
              </a:rPr>
              <a:t>Production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28600" y="587044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D8B"/>
                </a:solidFill>
              </a:rPr>
              <a:t>AWS Lightsail (Apache reverse proxy, PM2)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3227832" y="56235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0CAF9"/>
                </a:solidFill>
              </a:rPr>
              <a:t>Dev/Staging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3227832" y="587044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D8B"/>
                </a:solidFill>
              </a:rPr>
              <a:t>Replit Cloud — hot reload, instant preview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227064" y="56235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0CAF9"/>
                </a:solidFill>
              </a:rPr>
              <a:t>Database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227064" y="587044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D8B"/>
                </a:solidFill>
              </a:rPr>
              <a:t>PostgreSQL — multi-tenant, org-scoped isolation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9226296" y="56235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0CAF9"/>
                </a:solidFill>
              </a:rPr>
              <a:t>CI/CD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9226296" y="587044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D8B"/>
                </a:solidFill>
              </a:rPr>
              <a:t>Git → npm build → PM2 restart (zero-downtime)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73152" y="6583680"/>
            <a:ext cx="1211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63238"/>
                </a:solidFill>
              </a:rPr>
              <a:t>VOYAGER  |  Secure Multi-Tenant Athena Query Platform  |  Confidential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2026-06-14T16:48:50Z</dcterms:created>
  <dcterms:modified xsi:type="dcterms:W3CDTF">2026-06-14T16:48:50Z</dcterms:modified>
</cp:coreProperties>
</file>